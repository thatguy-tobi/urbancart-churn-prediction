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57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business pain, not the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this hard. Everything after it follows from the rarity.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the milestone. Say the 92% number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technical names on screen, say the plain version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are nowhere near equal — that is what justifies chasing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dial point usually needs saying twice — it is the least intuitive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bottom row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5.5 figure is the one retention can plan a campaign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retention will remember and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tradeoff out loud. A recommendation without one sounds like a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108960"/>
            <a:ext cx="4937760" cy="4937760"/>
          </a:xfrm>
          <a:prstGeom prst="ellipse">
            <a:avLst/>
          </a:prstGeom>
          <a:solidFill>
            <a:srgbClr val="5E1F31"/>
          </a:solidFill>
          <a:ln w="19050">
            <a:solidFill>
              <a:srgbClr val="A876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24160" y="4480560"/>
            <a:ext cx="2194560" cy="2194560"/>
          </a:xfrm>
          <a:prstGeom prst="ellipse">
            <a:avLst/>
          </a:prstGeom>
          <a:solidFill>
            <a:srgbClr val="A8761C">
              <a:alpha val="10000"/>
            </a:srgbClr>
          </a:solidFill>
          <a:ln w="12700">
            <a:solidFill>
              <a:srgbClr val="A876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mnt/skills/plugins/qucoon-slides-burgundy/assets/logo-academy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749808" cy="813816"/>
          </a:xfrm>
          <a:prstGeom prst="rect">
            <a:avLst/>
          </a:prstGeom>
        </p:spPr>
      </p:pic>
      <p:pic>
        <p:nvPicPr>
          <p:cNvPr id="5" name="Image 1" descr="/mnt/skills/plugins/qucoon-slides-burgundy/assets/logo-qucoon-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685800"/>
            <a:ext cx="2377440" cy="6766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228600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Catching Customers Before They Leave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3434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7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 </a:t>
            </a:r>
            <a:r>
              <a:rPr lang="en-US" sz="1400" dirty="0">
                <a:solidFill>
                  <a:srgbClr val="EA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— Milestone 2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20759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7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   </a:t>
            </a:r>
            <a:r>
              <a:rPr lang="en-US" sz="1400" dirty="0">
                <a:solidFill>
                  <a:srgbClr val="EA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September 2026</a:t>
            </a:r>
            <a:endParaRPr lang="en-US" sz="14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ADDFF92-A7A9-EC00-0718-665D8EDA2532}"/>
              </a:ext>
            </a:extLst>
          </p:cNvPr>
          <p:cNvSpPr txBox="1"/>
          <p:nvPr/>
        </p:nvSpPr>
        <p:spPr>
          <a:xfrm>
            <a:off x="640080" y="4610907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7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</a:t>
            </a:r>
            <a:r>
              <a:rPr lang="en-US" sz="1400" dirty="0">
                <a:solidFill>
                  <a:srgbClr val="EA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Akinola Oluwatobi</a:t>
            </a:r>
            <a:endParaRPr lang="en-US" sz="1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A356B25-A27B-D0ED-BAE0-B29ABC8AB12E}"/>
              </a:ext>
            </a:extLst>
          </p:cNvPr>
          <p:cNvSpPr txBox="1"/>
          <p:nvPr/>
        </p:nvSpPr>
        <p:spPr>
          <a:xfrm>
            <a:off x="640080" y="4897599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7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    </a:t>
            </a:r>
            <a:r>
              <a:rPr lang="en-US" sz="1400" dirty="0">
                <a:solidFill>
                  <a:srgbClr val="EA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Gbenga Raji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What the retention team asked for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0408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"Customers quietly stop ordering, and we only notice in the monthly report — by then they're gone."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a warning system: flag the people who look like they're drifting away, while there is still time to call them.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were handed 20,000 past customers with five facts each — how long they've been with us, their usual order size, orders last quarter, days since their last order, and support tickets filed.</a:t>
            </a:r>
            <a:endParaRPr lang="en-US" sz="1600" dirty="0"/>
          </a:p>
          <a:p>
            <a:pPr marL="457200" lvl="1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also says whether that customer did in fact leave. That is what the model learns from.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0"/>
            <a:ext cx="3504895" cy="2834640"/>
          </a:xfrm>
          <a:prstGeom prst="roundRect">
            <a:avLst>
              <a:gd name="adj" fmla="val 2581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366760" y="1965960"/>
            <a:ext cx="310896" cy="310896"/>
          </a:xfrm>
          <a:prstGeom prst="ellipse">
            <a:avLst/>
          </a:prstGeom>
          <a:solidFill>
            <a:srgbClr val="A8761C"/>
          </a:solidFill>
          <a:ln w="12700">
            <a:solidFill>
              <a:srgbClr val="A876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366760" y="242316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The type of question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2834640"/>
            <a:ext cx="2864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asked "how much will they spend?" — a number. This one asks "will they leave: yes or no?" — a category. Different question, different tools.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The catch: leavers are rare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3362858" cy="2468880"/>
          </a:xfrm>
          <a:prstGeom prst="roundRect">
            <a:avLst>
              <a:gd name="adj" fmla="val 2963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14400" y="228600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A8761C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8 in 100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4290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actually left — only 7.8% of the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14418" y="2011680"/>
            <a:ext cx="3362858" cy="2468880"/>
          </a:xfrm>
          <a:prstGeom prst="roundRect">
            <a:avLst>
              <a:gd name="adj" fmla="val 2963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4688738" y="228600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1,567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688738" y="34290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Leavers, out of 20,000 customers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88757" y="2011680"/>
            <a:ext cx="3362858" cy="2468880"/>
          </a:xfrm>
          <a:prstGeom prst="roundRect">
            <a:avLst>
              <a:gd name="adj" fmla="val 2963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463077" y="228600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1 in 12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463077" y="34290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 leaver for every twelve who stayed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463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fact changes how the whole thing must be graded. The next slide shows why.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Why "how often is it right?" is a trap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0408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laziest possible model: it says "nobody is leaving" about every single customer, without even looking at the data.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right 92% of the time — because 92% of customers really do stay.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zero leavers. Not one. It is completely useless to the retention team.</a:t>
            </a:r>
            <a:endParaRPr lang="en-US" sz="1600" dirty="0"/>
          </a:p>
          <a:p>
            <a:pPr marL="457200" lvl="1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Worse: two of our real models also scored around 93% while catching only 33 leavers out of 313. Grading on "how often is it right" would have ranked them as our best.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0"/>
            <a:ext cx="3504895" cy="2834640"/>
          </a:xfrm>
          <a:prstGeom prst="roundRect">
            <a:avLst>
              <a:gd name="adj" fmla="val 2581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366760" y="1965960"/>
            <a:ext cx="310896" cy="310896"/>
          </a:xfrm>
          <a:prstGeom prst="ellipse">
            <a:avLst/>
          </a:prstGeom>
          <a:solidFill>
            <a:srgbClr val="A8761C"/>
          </a:solidFill>
          <a:ln w="12700">
            <a:solidFill>
              <a:srgbClr val="A876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366760" y="242316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In short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2834640"/>
            <a:ext cx="2864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thing you're hunting is rare, being right most of the time is easy and meaningless. The score has to be about the leavers only.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The questions we ask instead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05840" y="2194560"/>
            <a:ext cx="457200" cy="457200"/>
          </a:xfrm>
          <a:prstGeom prst="ellipse">
            <a:avLst/>
          </a:prstGeom>
          <a:solidFill>
            <a:srgbClr val="8C2F45"/>
          </a:solidFill>
          <a:ln w="12700">
            <a:solidFill>
              <a:srgbClr val="8C2F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10058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2661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Recall — did we catch them?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520440"/>
            <a:ext cx="26618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everyone who really left, how many did we flag? 313 customers left; if we flag 211 of them, recall is 67%. This is the question retention actually cares about.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9178" y="182880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764938" y="2194560"/>
            <a:ext cx="457200" cy="457200"/>
          </a:xfrm>
          <a:prstGeom prst="ellipse">
            <a:avLst/>
          </a:prstGeom>
          <a:solidFill>
            <a:srgbClr val="8C2F45"/>
          </a:solidFill>
          <a:ln w="12700">
            <a:solidFill>
              <a:srgbClr val="8C2F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476493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64938" y="2788920"/>
            <a:ext cx="2661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Precision — were we right to flag?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64938" y="3520440"/>
            <a:ext cx="26618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everyone we flagged, how many really were leaving? Flag 100 people and if 18 were truly going, precision is 18%. Low precision means wasted emails.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1828800"/>
            <a:ext cx="3393338" cy="3566160"/>
          </a:xfrm>
          <a:prstGeom prst="roundRect">
            <a:avLst>
              <a:gd name="adj" fmla="val 2156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524037" y="2194560"/>
            <a:ext cx="457200" cy="457200"/>
          </a:xfrm>
          <a:prstGeom prst="ellipse">
            <a:avLst/>
          </a:prstGeom>
          <a:solidFill>
            <a:srgbClr val="8C2F45"/>
          </a:solidFill>
          <a:ln w="12700">
            <a:solidFill>
              <a:srgbClr val="8C2F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8524037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24037" y="2788920"/>
            <a:ext cx="2661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F2 — the two, combined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24037" y="3520440"/>
            <a:ext cx="26618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blending both, deliberately weighted so catching leavers counts about four times more than avoiding false alarms. It is the number we ranked models by.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Which mistake hurts more?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227168" cy="4114800"/>
          </a:xfrm>
          <a:prstGeom prst="roundRect">
            <a:avLst>
              <a:gd name="adj" fmla="val 1778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27168" cy="777240"/>
          </a:xfrm>
          <a:prstGeom prst="roundRect">
            <a:avLst>
              <a:gd name="adj" fmla="val 9412"/>
            </a:avLst>
          </a:prstGeom>
          <a:solidFill>
            <a:srgbClr val="8C2F45"/>
          </a:solidFill>
          <a:ln w="12700">
            <a:solidFill>
              <a:srgbClr val="8C2F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1005840" y="1645920"/>
            <a:ext cx="449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Missing a leaver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44956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said they were fine. They left anyway.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failure retention came to us about.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everything that customer would ever have spent.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second chance — by the time it shows up, they are gone.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1645920"/>
            <a:ext cx="5227168" cy="4114800"/>
          </a:xfrm>
          <a:prstGeom prst="roundRect">
            <a:avLst>
              <a:gd name="adj" fmla="val 1778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324448" y="1645920"/>
            <a:ext cx="5227168" cy="777240"/>
          </a:xfrm>
          <a:prstGeom prst="roundRect">
            <a:avLst>
              <a:gd name="adj" fmla="val 9412"/>
            </a:avLst>
          </a:prstGeom>
          <a:solidFill>
            <a:srgbClr val="5E1F31"/>
          </a:solidFill>
          <a:ln w="12700">
            <a:solidFill>
              <a:srgbClr val="5E1F3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6690208" y="1645920"/>
            <a:ext cx="449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A false alarm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90208" y="2697480"/>
            <a:ext cx="44956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flagged someone who was never going to leave.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get a win-back email they did not need.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the price of one email, plus a little goodwill.</a:t>
            </a:r>
            <a:endParaRPr lang="en-US" sz="16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Annoying, cheap, and recoverable.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How we built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8C2F45"/>
          </a:solidFill>
          <a:ln w="12700">
            <a:solidFill>
              <a:srgbClr val="8C2F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2487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Hide some 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24878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away 4,000 customers where no model can see them. They are the final exam — touched once, right at the end.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47974" y="1920240"/>
            <a:ext cx="566928" cy="566928"/>
          </a:xfrm>
          <a:prstGeom prst="ellipse">
            <a:avLst/>
          </a:prstGeom>
          <a:solidFill>
            <a:srgbClr val="8C2F45"/>
          </a:solidFill>
          <a:ln w="12700">
            <a:solidFill>
              <a:srgbClr val="8C2F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3447974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7974" y="2697480"/>
            <a:ext cx="2487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Train four models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47974" y="3383280"/>
            <a:ext cx="24878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lazy "nobody leaves" one, so we always know what adding nothing looks like.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5868" y="1920240"/>
            <a:ext cx="566928" cy="566928"/>
          </a:xfrm>
          <a:prstGeom prst="ellipse">
            <a:avLst/>
          </a:prstGeom>
          <a:solidFill>
            <a:srgbClr val="8C2F45"/>
          </a:solidFill>
          <a:ln w="12700">
            <a:solidFill>
              <a:srgbClr val="8C2F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625586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55868" y="2697480"/>
            <a:ext cx="2487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Turn down the dial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55868" y="3383280"/>
            <a:ext cx="24878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gives a percentage chance of leaving. We normally act at 50%, but almost nobody looks 50% likely when leavers are this rare. Lowering it to about 7% caught six times more.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63761" y="1920240"/>
            <a:ext cx="566928" cy="566928"/>
          </a:xfrm>
          <a:prstGeom prst="ellipse">
            <a:avLst/>
          </a:prstGeom>
          <a:solidFill>
            <a:srgbClr val="A8761C"/>
          </a:solidFill>
          <a:ln w="12700">
            <a:solidFill>
              <a:srgbClr val="A876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9063761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1E6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063761" y="2697480"/>
            <a:ext cx="2487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Test once, then choose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63761" y="3383280"/>
            <a:ext cx="24878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everything on the 4,000 hidden customers, using recall and F2 rather than plain correctness.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How the models did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6" cy="1767840"/>
        </p:xfrm>
        <a:graphic>
          <a:graphicData uri="http://schemas.openxmlformats.org/drawingml/2006/table">
            <a:tbl>
              <a:tblPr/>
              <a:tblGrid>
                <a:gridCol w="2727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7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1E6"/>
                          </a:solidFill>
                          <a:latin typeface="Biome" pitchFamily="34" charset="0"/>
                          <a:ea typeface="Biome" pitchFamily="34" charset="-122"/>
                          <a:cs typeface="Biome" pitchFamily="34" charset="-120"/>
                        </a:rPr>
                        <a:t>Model</a:t>
                      </a:r>
                      <a:endParaRPr lang="en-US" sz="1400" dirty="0">
                        <a:latin typeface="Biome" charset="0"/>
                        <a:ea typeface="Biome" charset="0"/>
                        <a:cs typeface="Biom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1F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1E6"/>
                          </a:solidFill>
                          <a:latin typeface="Biome" pitchFamily="34" charset="0"/>
                          <a:ea typeface="Biome" pitchFamily="34" charset="-122"/>
                          <a:cs typeface="Biome" pitchFamily="34" charset="-120"/>
                        </a:rPr>
                        <a:t>Leavers caught</a:t>
                      </a:r>
                      <a:endParaRPr lang="en-US" sz="1400" dirty="0">
                        <a:latin typeface="Biome" charset="0"/>
                        <a:ea typeface="Biome" charset="0"/>
                        <a:cs typeface="Biom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1F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1E6"/>
                          </a:solidFill>
                          <a:latin typeface="Biome" pitchFamily="34" charset="0"/>
                          <a:ea typeface="Biome" pitchFamily="34" charset="-122"/>
                          <a:cs typeface="Biome" pitchFamily="34" charset="-120"/>
                        </a:rPr>
                        <a:t>False alarms</a:t>
                      </a:r>
                      <a:endParaRPr lang="en-US" sz="1400" dirty="0">
                        <a:latin typeface="Biome" charset="0"/>
                        <a:ea typeface="Biome" charset="0"/>
                        <a:cs typeface="Biom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1F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7F1E6"/>
                          </a:solidFill>
                          <a:latin typeface="Biome" pitchFamily="34" charset="0"/>
                          <a:ea typeface="Biome" pitchFamily="34" charset="-122"/>
                          <a:cs typeface="Biome" pitchFamily="34" charset="-120"/>
                        </a:rPr>
                        <a:t>Score (F2)</a:t>
                      </a:r>
                      <a:endParaRPr lang="en-US" sz="1400" dirty="0">
                        <a:latin typeface="Biome" charset="0"/>
                        <a:ea typeface="Biome" charset="0"/>
                        <a:cs typeface="Biom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1F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 of 313  (67%)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  — 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 of 313  (56%)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 of 313  (61%)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"Nobody ever leaves"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313  (0%)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2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669280"/>
            <a:ext cx="9814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4,000 hidden customers. The lazy model is in the table on purpose — it is the bar everything else has to clear.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What the winner actually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3362858" cy="2468880"/>
          </a:xfrm>
          <a:prstGeom prst="roundRect">
            <a:avLst>
              <a:gd name="adj" fmla="val 2963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914400" y="228600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A8761C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67%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4290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who were really leaving got flagged in time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4418" y="2011680"/>
            <a:ext cx="3362858" cy="2468880"/>
          </a:xfrm>
          <a:prstGeom prst="roundRect">
            <a:avLst>
              <a:gd name="adj" fmla="val 2963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4688738" y="228600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2.3x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688738" y="34290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picking customers to call at random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88757" y="2011680"/>
            <a:ext cx="3362858" cy="2468880"/>
          </a:xfrm>
          <a:prstGeom prst="roundRect">
            <a:avLst>
              <a:gd name="adj" fmla="val 2963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463077" y="228600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5.5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463077" y="342900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 for every one leaver reached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463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4,000 customers it flags 1,166 for a check-in, and 211 of those were genuinely on their way out.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What makes a customer look risky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0408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quiet is the biggest warning sign by far — leavers had gone about 42 days without ordering, against 18 days for everyone else.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Complaining is the second — leavers filed noticeably more support tickets.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they normally spend barely matters at all.</a:t>
            </a:r>
            <a:endParaRPr lang="en-US" sz="1600" dirty="0"/>
          </a:p>
          <a:p>
            <a:pPr marL="457200" lvl="1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point is worth telling retention directly: UrbanCart is not losing customers because they were small spenders. It is losing quiet, frustrated ones of every size.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0"/>
            <a:ext cx="3504895" cy="2834640"/>
          </a:xfrm>
          <a:prstGeom prst="roundRect">
            <a:avLst>
              <a:gd name="adj" fmla="val 2581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366760" y="1965960"/>
            <a:ext cx="310896" cy="310896"/>
          </a:xfrm>
          <a:prstGeom prst="ellipse">
            <a:avLst/>
          </a:prstGeom>
          <a:solidFill>
            <a:srgbClr val="A8761C"/>
          </a:solidFill>
          <a:ln w="12700">
            <a:solidFill>
              <a:srgbClr val="A876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366760" y="242316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The flag, in one line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2834640"/>
            <a:ext cx="2864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who has stopped ordering and has been raising tickets is the one to call this week.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Our recommendation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0408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Logistic Regression, set to flag anyone above roughly a 7% chance of leaving.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caught the most leavers and scored best on the measures that matter here.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a percentage, not just a yes/no — so retention can sort the list worst-first and work down it as far as the team has time for.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explain itself: "42 days quiet, three tickets" is a reason a human can check.</a:t>
            </a:r>
            <a:endParaRPr lang="en-US" sz="1600" dirty="0"/>
          </a:p>
          <a:p>
            <a:pPr marL="457200" lvl="1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7% is a dial the business owns. More capacity? Lower it and catch more. Stretched? Raise it for a shorter, safer list. No rebuilding needed.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1645920"/>
            <a:ext cx="3504895" cy="2834640"/>
          </a:xfrm>
          <a:prstGeom prst="roundRect">
            <a:avLst>
              <a:gd name="adj" fmla="val 2581"/>
            </a:avLst>
          </a:prstGeom>
          <a:solidFill>
            <a:srgbClr val="EDE2D2"/>
          </a:solidFill>
          <a:ln w="12700">
            <a:solidFill>
              <a:srgbClr val="EDE2D2"/>
            </a:solidFill>
            <a:prstDash val="solid"/>
          </a:ln>
          <a:effectLst>
            <a:outerShdw blurRad="127000" dist="25400" dir="5400000" algn="bl" rotWithShape="0">
              <a:srgbClr val="5E1F31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366760" y="1965960"/>
            <a:ext cx="310896" cy="310896"/>
          </a:xfrm>
          <a:prstGeom prst="ellipse">
            <a:avLst/>
          </a:prstGeom>
          <a:solidFill>
            <a:srgbClr val="A8761C"/>
          </a:solidFill>
          <a:ln w="12700">
            <a:solidFill>
              <a:srgbClr val="A876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366760" y="242316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1F31"/>
                </a:solidFill>
                <a:latin typeface="Biome" pitchFamily="34" charset="0"/>
                <a:ea typeface="Biome" pitchFamily="34" charset="-122"/>
                <a:cs typeface="Biome" pitchFamily="34" charset="-120"/>
              </a:rPr>
              <a:t>The honest tradeoff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2834640"/>
            <a:ext cx="2864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four in five flagged customers were never leaving. That is the price of catching two-thirds of the real ones — and it is only worth paying while a check-in is a cheap email. If it becomes phone calls or real discounts, raise the dial and accept catching fewer.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Case Study  ·  Milestone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B66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1349</Words>
  <Application>Microsoft Office PowerPoint</Application>
  <PresentationFormat>Widescreen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Biome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Catching Customers Before They Leave</dc:title>
  <dc:subject>PptxGenJS Presentation</dc:subject>
  <dc:creator/>
  <cp:lastModifiedBy>Oluwatobi Akinola</cp:lastModifiedBy>
  <cp:revision>2</cp:revision>
  <dcterms:created xsi:type="dcterms:W3CDTF">2026-09-20T21:43:10Z</dcterms:created>
  <dcterms:modified xsi:type="dcterms:W3CDTF">2026-09-20T22:03:48Z</dcterms:modified>
</cp:coreProperties>
</file>